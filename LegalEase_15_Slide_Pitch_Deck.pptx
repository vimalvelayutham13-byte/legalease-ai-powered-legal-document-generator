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LegalEase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CE4F0"/>
                </a:solidFill>
                <a:latin typeface="Aptos"/>
              </a:rPr>
              <a:t>AI-Powered Legal Document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3749039" cy="384048"/>
          </a:xfrm>
          <a:prstGeom prst="round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6090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SMARTER DRAFTING • SIMPLER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51560"/>
            <a:ext cx="24231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1554480"/>
            <a:ext cx="1737360" cy="73152"/>
          </a:xfrm>
          <a:prstGeom prst="rect">
            <a:avLst/>
          </a:prstGeom>
          <a:solidFill>
            <a:srgbClr val="BE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920240"/>
            <a:ext cx="1965960" cy="73152"/>
          </a:xfrm>
          <a:prstGeom prst="rect">
            <a:avLst/>
          </a:prstGeom>
          <a:solidFill>
            <a:srgbClr val="BE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286000"/>
            <a:ext cx="1554480" cy="73152"/>
          </a:xfrm>
          <a:prstGeom prst="rect">
            <a:avLst/>
          </a:prstGeom>
          <a:solidFill>
            <a:srgbClr val="BE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41080" y="2743200"/>
            <a:ext cx="1920240" cy="73152"/>
          </a:xfrm>
          <a:prstGeom prst="rect">
            <a:avLst/>
          </a:prstGeom>
          <a:solidFill>
            <a:srgbClr val="BE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41080" y="3108960"/>
            <a:ext cx="1325880" cy="73152"/>
          </a:xfrm>
          <a:prstGeom prst="rect">
            <a:avLst/>
          </a:prstGeom>
          <a:solidFill>
            <a:srgbClr val="BE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3474720"/>
            <a:ext cx="1737360" cy="73152"/>
          </a:xfrm>
          <a:prstGeom prst="rect">
            <a:avLst/>
          </a:prstGeom>
          <a:solidFill>
            <a:srgbClr val="BE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97763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869D2"/>
                </a:solidFill>
                <a:latin typeface="Aptos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C"/>
                </a:solidFill>
                <a:latin typeface="Aptos"/>
              </a:rPr>
              <a:t>A presentation-ready concept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Legal paperwork is often harder than it needs to 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Complex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4672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Users may not know the right structure or clauses.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" cy="160020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71907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Time-consuming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121408"/>
            <a:ext cx="4672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Manual drafting and formatting can take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64008" cy="160020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77647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Cost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178808"/>
            <a:ext cx="4672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Professional help may be difficult to access for routine drafts.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64008" cy="160020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36118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77647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Fragmented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178808"/>
            <a:ext cx="4672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Information, templates, edits and exports happen in different places.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611880"/>
            <a:ext cx="64008" cy="160020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LegalEase turns guided user input into structured, editable legal-document drafts.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1  Choose a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284378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Select a suitable document category and template.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338328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7335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2  Add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75688"/>
            <a:ext cx="284378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Answer simple questions instead of formatting a document manually.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64008" cy="338328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67335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3  Generate &amp;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075688"/>
            <a:ext cx="284378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AI produces a structured draft that can be edited and exported.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64008" cy="338328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53949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33E"/>
                </a:solidFill>
                <a:latin typeface="Aptos"/>
              </a:rPr>
              <a:t>Human review remains important for legal accuracy and suitability.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Designed around common document-creation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Letters, declarations and simple agreements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5819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Individuals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98424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Everyday legal-document drafts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64008" cy="169164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5819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Small businesses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98424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Routine agreements and business paperwork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64008" cy="169164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7647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Freelancers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7880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Service agreements and project documentation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64008" cy="169164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3611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77647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Startups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17880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Early-stage business documentation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611880"/>
            <a:ext cx="64008" cy="169164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3611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77647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Legal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17880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Drafting assistance and structured templates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611880"/>
            <a:ext cx="64008" cy="169164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How LegalEase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A simple end-to-end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69D2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C7D"/>
                </a:solidFill>
                <a:latin typeface="Aptos"/>
              </a:rPr>
              <a:t>User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AA84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05740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69D2"/>
                </a:solidFill>
                <a:latin typeface="Aptos"/>
              </a:rPr>
              <a:t>AI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C7D"/>
                </a:solidFill>
                <a:latin typeface="Aptos"/>
              </a:rPr>
              <a:t>Prompt +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AA84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05740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69D2"/>
                </a:solidFill>
                <a:latin typeface="Aptos"/>
              </a:rPr>
              <a:t>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C7D"/>
                </a:solidFill>
                <a:latin typeface="Aptos"/>
              </a:rPr>
              <a:t>Document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AA84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05740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69D2"/>
                </a:solidFill>
                <a:latin typeface="Aptos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C7D"/>
                </a:solidFill>
                <a:latin typeface="Aptos"/>
              </a:rPr>
              <a:t>Edit &amp;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AA84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05740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69D2"/>
                </a:solidFill>
                <a:latin typeface="Aptos"/>
              </a:rP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C7D"/>
                </a:solidFill>
                <a:latin typeface="Aptos"/>
              </a:rPr>
              <a:t>PDF / DOCX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0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33E"/>
                </a:solidFill>
                <a:latin typeface="Aptos"/>
              </a:rPr>
              <a:t>Guided input  →  AI-assisted drafting  →  human review  →  usable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Core capabilities for a focused first version.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0817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AI-assisted document generation</a:t>
            </a:r>
          </a:p>
        </p:txBody>
      </p:sp>
      <p:sp>
        <p:nvSpPr>
          <p:cNvPr id="8" name="Oval 7"/>
          <p:cNvSpPr/>
          <p:nvPr/>
        </p:nvSpPr>
        <p:spPr>
          <a:xfrm>
            <a:off x="6309359" y="1417320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435608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140817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Simple form-based input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532888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237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Reusable legal templates</a:t>
            </a:r>
          </a:p>
        </p:txBody>
      </p:sp>
      <p:sp>
        <p:nvSpPr>
          <p:cNvPr id="14" name="Oval 13"/>
          <p:cNvSpPr/>
          <p:nvPr/>
        </p:nvSpPr>
        <p:spPr>
          <a:xfrm>
            <a:off x="6309359" y="2532888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551176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79" y="25237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Editable generated drafts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48456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6674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393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PDF / DOCX export</a:t>
            </a:r>
          </a:p>
        </p:txBody>
      </p:sp>
      <p:sp>
        <p:nvSpPr>
          <p:cNvPr id="20" name="Oval 19"/>
          <p:cNvSpPr/>
          <p:nvPr/>
        </p:nvSpPr>
        <p:spPr>
          <a:xfrm>
            <a:off x="6309359" y="3648456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66674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36393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Document history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764024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82312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754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Clean, beginner-friendly interface</a:t>
            </a:r>
          </a:p>
        </p:txBody>
      </p:sp>
      <p:sp>
        <p:nvSpPr>
          <p:cNvPr id="26" name="Oval 25"/>
          <p:cNvSpPr/>
          <p:nvPr/>
        </p:nvSpPr>
        <p:spPr>
          <a:xfrm>
            <a:off x="6309359" y="4764024"/>
            <a:ext cx="347472" cy="347472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782312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79" y="4754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632"/>
                </a:solidFill>
                <a:latin typeface="Aptos"/>
              </a:rPr>
              <a:t>Review reminders and disclaimers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AI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Modular architecture keeps the user experience simple while separating core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234440"/>
            <a:ext cx="8229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8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80" y="1380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807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Web app / responsive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92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2194560"/>
            <a:ext cx="8229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340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INPUT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Forms • field checks • document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852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3154680"/>
            <a:ext cx="8229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3300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AI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009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Prompt builder • Gemini model •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813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4114800"/>
            <a:ext cx="8229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8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4261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DOCUMENT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61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Templates • clause assembly • formatting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773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5074920"/>
            <a:ext cx="8229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5221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STORAGE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221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Database • PDF/DOCX •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Suggested implementation stack for a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3026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HTML • CSS • JavaScript / React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73736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819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984248"/>
            <a:ext cx="3026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Python • 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64008" cy="173736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58191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1984248"/>
            <a:ext cx="3026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Gemini API • Prompt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417320"/>
            <a:ext cx="64008" cy="173736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22191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24528"/>
            <a:ext cx="3026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Firebase / PostgreSQL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64008" cy="173736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8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822191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224528"/>
            <a:ext cx="3026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PDF &amp; DOCX generation libraries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657600"/>
            <a:ext cx="64008" cy="173736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3822191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224528"/>
            <a:ext cx="30266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Cloud hosting + secure API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657600"/>
            <a:ext cx="64008" cy="173736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User Interface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Five key screens from discovery to document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9659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965960" cy="38404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869D2"/>
                </a:solidFill>
                <a:latin typeface="Aptos"/>
              </a:rP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423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Welcome + document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33E"/>
                </a:solidFill>
                <a:latin typeface="Aptos"/>
              </a:rPr>
              <a:t>LegalEase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1417320"/>
            <a:ext cx="19659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1417320"/>
            <a:ext cx="1965960" cy="38404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869D2"/>
                </a:solidFill>
                <a:latin typeface="Aptos"/>
              </a:rPr>
              <a:t>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423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Choose template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9232" y="33832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99232" y="38404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99232" y="42976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4800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33E"/>
                </a:solidFill>
                <a:latin typeface="Aptos"/>
              </a:rPr>
              <a:t>LegalEase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4" y="1417320"/>
            <a:ext cx="19659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9784" y="1417320"/>
            <a:ext cx="1965960" cy="38404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4376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869D2"/>
                </a:solidFill>
                <a:latin typeface="Aptos"/>
              </a:rPr>
              <a:t>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2423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Guided information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8384" y="33832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58384" y="38404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58384" y="42976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4800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33E"/>
                </a:solidFill>
                <a:latin typeface="Aptos"/>
              </a:rPr>
              <a:t>LegalEase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8936" y="1417320"/>
            <a:ext cx="19659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88936" y="1417320"/>
            <a:ext cx="1965960" cy="38404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53527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869D2"/>
                </a:solidFill>
                <a:latin typeface="Aptos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7" y="2423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Generating draft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17536" y="33832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17536" y="38404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17536" y="42976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4800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33E"/>
                </a:solidFill>
                <a:latin typeface="Aptos"/>
              </a:rPr>
              <a:t>LegalEase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48088" y="1417320"/>
            <a:ext cx="19659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48088" y="1417320"/>
            <a:ext cx="1965960" cy="38404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869D2"/>
                </a:solidFill>
                <a:latin typeface="Aptos"/>
              </a:rPr>
              <a:t>PREVIEW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423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Edit + export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76688" y="33832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76688" y="38404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076688" y="4297680"/>
            <a:ext cx="1508760" cy="219456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8" y="4800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33E"/>
                </a:solidFill>
                <a:latin typeface="Aptos"/>
              </a:rPr>
              <a:t>LegalEase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Comic-Style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A four-panel story showing the product in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2468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740664" y="1645920"/>
            <a:ext cx="365760" cy="36576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20574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2233E"/>
                </a:solidFill>
                <a:latin typeface="Aptos"/>
              </a:rPr>
              <a:t>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I need a legal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9834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D"/>
                </a:solidFill>
                <a:latin typeface="Aptos"/>
              </a:rPr>
              <a:t>LEGALeASE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468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575304" y="1645920"/>
            <a:ext cx="365760" cy="36576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7368" y="20574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2233E"/>
                </a:solidFill>
                <a:latin typeface="Aptos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63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LegalEase asks simple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9834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D"/>
                </a:solidFill>
                <a:latin typeface="Aptos"/>
              </a:rPr>
              <a:t>LEGALeASE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2468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6409944" y="1645920"/>
            <a:ext cx="365760" cy="36576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20574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2233E"/>
                </a:solidFill>
                <a:latin typeface="Aptos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63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AI builds a structured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9834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D"/>
                </a:solidFill>
                <a:latin typeface="Aptos"/>
              </a:rPr>
              <a:t>LEGALeASE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463040"/>
            <a:ext cx="2468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9244584" y="1645920"/>
            <a:ext cx="365760" cy="36576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20574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2233E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063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I review, edit and export.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9834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D"/>
                </a:solidFill>
                <a:latin typeface="Aptos"/>
              </a:rPr>
              <a:t>LEGALeASE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Example: Document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Example workflow for a rental-agreement draft.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017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User 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26151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Names
Address
Rental period
Rent amount
Basic terms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4008" cy="425196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AA84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017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AI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26151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Maps fields to a template
Builds sections
Applies formatting
Produces an editable draft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64008" cy="425196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AA84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Review &amp;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0266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Preview document
Edit wording
Verify details
Export PDF / DOCX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325880"/>
            <a:ext cx="64008" cy="425196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580644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6C7D"/>
                </a:solidFill>
                <a:latin typeface="Aptos"/>
              </a:rPr>
              <a:t>AI-generated output should be reviewed for accuracy and suitability before 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What LegalEase is designed to improve.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361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Less manual formatting and repetitive drafting.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4008" cy="169164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5361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Simplicity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93852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Guided questions replace complex document setup.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64008" cy="169164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53619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938528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Reusable templates support consistent 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64008" cy="169164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3075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Makes routine document drafting easier to approach.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64008" cy="169164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73075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Organization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133087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Keeps document creation and history in one workflow.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566160"/>
            <a:ext cx="64008" cy="169164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73075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133087"/>
            <a:ext cx="30266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Users can review and edit before exporting.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566160"/>
            <a:ext cx="64008" cy="169164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Possible roadmap after the prototype.</a:t>
            </a:r>
          </a:p>
        </p:txBody>
      </p:sp>
      <p:sp>
        <p:nvSpPr>
          <p:cNvPr id="5" name="Oval 4"/>
          <p:cNvSpPr/>
          <p:nvPr/>
        </p:nvSpPr>
        <p:spPr>
          <a:xfrm>
            <a:off x="1389888" y="1828800"/>
            <a:ext cx="594360" cy="59436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197510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956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E"/>
                </a:solidFill>
                <a:latin typeface="Apto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Core templates + AI drafting</a:t>
            </a:r>
          </a:p>
        </p:txBody>
      </p:sp>
      <p:sp>
        <p:nvSpPr>
          <p:cNvPr id="10" name="Oval 9"/>
          <p:cNvSpPr/>
          <p:nvPr/>
        </p:nvSpPr>
        <p:spPr>
          <a:xfrm>
            <a:off x="3630168" y="1828800"/>
            <a:ext cx="594360" cy="594360"/>
          </a:xfrm>
          <a:prstGeom prst="ellipse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97510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56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E"/>
                </a:solidFill>
                <a:latin typeface="Aptos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00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Multilingual + voice input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1828800"/>
            <a:ext cx="594360" cy="594360"/>
          </a:xfrm>
          <a:prstGeom prst="ellipse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197510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56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E"/>
                </a:solidFill>
                <a:latin typeface="Aptos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AI review + clause suggestions</a:t>
            </a:r>
          </a:p>
        </p:txBody>
      </p:sp>
      <p:sp>
        <p:nvSpPr>
          <p:cNvPr id="20" name="Oval 19"/>
          <p:cNvSpPr/>
          <p:nvPr/>
        </p:nvSpPr>
        <p:spPr>
          <a:xfrm>
            <a:off x="8110728" y="1828800"/>
            <a:ext cx="594360" cy="59436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8" y="197510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956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E"/>
                </a:solidFill>
                <a:latin typeface="Aptos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200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Professional collaboration</a:t>
            </a:r>
          </a:p>
        </p:txBody>
      </p:sp>
      <p:sp>
        <p:nvSpPr>
          <p:cNvPr id="25" name="Oval 24"/>
          <p:cNvSpPr/>
          <p:nvPr/>
        </p:nvSpPr>
        <p:spPr>
          <a:xfrm>
            <a:off x="10351008" y="1828800"/>
            <a:ext cx="594360" cy="594360"/>
          </a:xfrm>
          <a:prstGeom prst="ellipse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8" y="197510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E"/>
                </a:solidFill>
                <a:latin typeface="Aptos"/>
              </a:rP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00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C7D"/>
                </a:solidFill>
                <a:latin typeface="Aptos"/>
              </a:rPr>
              <a:t>Mobile app + broader integrations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Business &amp; Impact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Potential ways to sustain the product while keeping basic access simple.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20665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Basic templates and limited generations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3291840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673351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075688"/>
            <a:ext cx="20665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Advanced templates and higher usage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508760"/>
            <a:ext cx="64008" cy="3291840"/>
          </a:xfrm>
          <a:prstGeom prst="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673351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75688"/>
            <a:ext cx="20665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Team workspace and organization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64008" cy="3291840"/>
          </a:xfrm>
          <a:prstGeom prst="rect">
            <a:avLst/>
          </a:prstGeom>
          <a:solidFill>
            <a:srgbClr val="2D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39" y="1508760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1673351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33E"/>
                </a:solidFill>
                <a:latin typeface="Aptos"/>
              </a:rPr>
              <a:t>Professional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2075688"/>
            <a:ext cx="20665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D"/>
                </a:solidFill>
                <a:latin typeface="Aptos"/>
              </a:rPr>
              <a:t>Workflow integrations for legal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39" y="1508760"/>
            <a:ext cx="64008" cy="329184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349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Impact focus: reduce repetitive drafting effort while keeping human review in the loop.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LegalEase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CE4F0"/>
                </a:solidFill>
                <a:latin typeface="Aptos"/>
              </a:rPr>
              <a:t>Simplifying Legal Document Creation with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880360"/>
            <a:ext cx="3657600" cy="384048"/>
          </a:xfrm>
          <a:prstGeom prst="roundRect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9352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FASTER  •  SIMPLER  •  AI-ASSISTED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74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ECAD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1645920"/>
            <a:ext cx="320040" cy="320040"/>
          </a:xfrm>
          <a:prstGeom prst="ellipse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2377440"/>
            <a:ext cx="320040" cy="320040"/>
          </a:xfrm>
          <a:prstGeom prst="ellipse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0" y="3657600"/>
            <a:ext cx="320040" cy="320040"/>
          </a:xfrm>
          <a:prstGeom prst="ellipse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4389120"/>
            <a:ext cx="320040" cy="320040"/>
          </a:xfrm>
          <a:prstGeom prst="ellipse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0" y="4754880"/>
            <a:ext cx="320040" cy="320040"/>
          </a:xfrm>
          <a:prstGeom prst="ellipse">
            <a:avLst/>
          </a:prstGeom>
          <a:solidFill>
            <a:srgbClr val="DA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F6C7D"/>
                </a:solidFill>
                <a:latin typeface="Aptos"/>
              </a:rPr>
              <a:t>LEGALeASE  •  AI-POWERED LEGAL DOCUMENT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